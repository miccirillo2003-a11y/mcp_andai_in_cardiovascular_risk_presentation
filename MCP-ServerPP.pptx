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4630400" cy="8229600"/>
  <p:notesSz cx="8229600" cy="14630400"/>
  <p:embeddedFontLst>
    <p:embeddedFont>
      <p:font typeface="Cambria" panose="02040503050406030204" pitchFamily="18" charset="0"/>
      <p:regular r:id="rId13"/>
      <p:bold r:id="rId14"/>
      <p:italic r:id="rId15"/>
      <p:boldItalic r:id="rId16"/>
    </p:embeddedFont>
    <p:embeddedFont>
      <p:font typeface="Candara Light" panose="020E0502030303020204" pitchFamily="34" charset="0"/>
      <p:regular r:id="rId17"/>
      <p:italic r:id="rId18"/>
    </p:embeddedFont>
    <p:embeddedFont>
      <p:font typeface="Constantia" panose="02030602050306030303" pitchFamily="18" charset="0"/>
      <p:regular r:id="rId19"/>
      <p:bold r:id="rId20"/>
      <p:italic r:id="rId21"/>
      <p:boldItalic r:id="rId22"/>
    </p:embeddedFont>
    <p:embeddedFont>
      <p:font typeface="Source Sans 3" panose="020B0604020202020204" charset="0"/>
      <p:regular r:id="rId23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5" d="100"/>
          <a:sy n="45" d="100"/>
        </p:scale>
        <p:origin x="74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2120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507694"/>
            <a:ext cx="11219617" cy="1402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0"/>
              </a:lnSpc>
              <a:buNone/>
            </a:pPr>
            <a:r>
              <a:rPr lang="en-US" sz="8800" b="1" dirty="0">
                <a:solidFill>
                  <a:srgbClr val="FFFFFF"/>
                </a:solidFill>
                <a:latin typeface="Constantia" panose="02030602050306030303" pitchFamily="18" charset="0"/>
                <a:ea typeface="Montserrat Bold" pitchFamily="34" charset="-122"/>
                <a:cs typeface="Montserrat Bold" pitchFamily="34" charset="-120"/>
              </a:rPr>
              <a:t>MCP Servers</a:t>
            </a:r>
            <a:endParaRPr lang="en-US" sz="8800" dirty="0">
              <a:latin typeface="Constantia" panose="0203060205030603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3798" y="4280178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Clinical Data Analysis </a:t>
            </a:r>
            <a:endParaRPr lang="en-US" sz="4400" dirty="0">
              <a:latin typeface="Candara Light" panose="020E0502030303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3798" y="5351621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GB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Guide to the three Model Context Protocol servers for </a:t>
            </a:r>
            <a:r>
              <a:rPr lang="en-GB" sz="19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analyzing</a:t>
            </a:r>
            <a:r>
              <a:rPr lang="en-GB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Heart Disease UCI dataset using Claude AI.</a:t>
            </a:r>
          </a:p>
          <a:p>
            <a:pPr algn="ctr">
              <a:lnSpc>
                <a:spcPts val="2900"/>
              </a:lnSpc>
            </a:pPr>
            <a:r>
              <a:rPr lang="en-GB" sz="1900" b="1" dirty="0">
                <a:solidFill>
                  <a:srgbClr val="E2E6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Cirillo Michele 01/2026</a:t>
            </a: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2249" y="1093470"/>
            <a:ext cx="1413986" cy="459343"/>
          </a:xfrm>
          <a:prstGeom prst="roundRect">
            <a:avLst>
              <a:gd name="adj" fmla="val 6448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0356" y="1181242"/>
            <a:ext cx="1102757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OVERVIEW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3798" y="2535555"/>
            <a:ext cx="7148751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onstantia" panose="02030602050306030303" pitchFamily="18" charset="0"/>
                <a:ea typeface="Montserrat Bold" pitchFamily="34" charset="-122"/>
                <a:cs typeface="Montserrat Bold" pitchFamily="34" charset="-120"/>
              </a:rPr>
              <a:t>System Architecture</a:t>
            </a:r>
            <a:endParaRPr lang="en-US" sz="4400" dirty="0">
              <a:latin typeface="Constantia" panose="0203060205030603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3798" y="3606998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Light" pitchFamily="34" charset="-120"/>
              </a:rPr>
              <a:t>MCP1</a:t>
            </a:r>
            <a:endParaRPr lang="en-US" sz="1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3798" y="3995976"/>
            <a:ext cx="4136350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3798" y="4180284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ClinicalDataETL</a:t>
            </a:r>
            <a:endParaRPr lang="en-US" sz="2200" dirty="0">
              <a:latin typeface="Candara Light" panose="020E0502030303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3798" y="4678918"/>
            <a:ext cx="413635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GB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extraction, transformation and loading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246965" y="3606998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Light" pitchFamily="34" charset="-120"/>
              </a:rPr>
              <a:t>MCP2</a:t>
            </a:r>
            <a:endParaRPr lang="en-US" sz="1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246965" y="3995976"/>
            <a:ext cx="4136350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246965" y="4180284"/>
            <a:ext cx="304657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ClinicalDataAnalyzer</a:t>
            </a:r>
            <a:endParaRPr lang="en-US" sz="2200" dirty="0">
              <a:latin typeface="Candara Light" panose="020E0502030303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246965" y="4678918"/>
            <a:ext cx="413635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Statistical and explorative analysis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630132" y="3606998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Light" pitchFamily="34" charset="-120"/>
              </a:rPr>
              <a:t>MCP3</a:t>
            </a:r>
            <a:endParaRPr lang="en-US" sz="1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630132" y="3995976"/>
            <a:ext cx="4136350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630132" y="4180284"/>
            <a:ext cx="370296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MedicalKnowledgeGraph</a:t>
            </a:r>
            <a:endParaRPr lang="en-US" sz="2200" dirty="0">
              <a:latin typeface="Candara Light" panose="020E0502030303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630132" y="4678918"/>
            <a:ext cx="413635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GB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Representation of clinical relationships on a graph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63798" y="5881926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Dataset: </a:t>
            </a: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Heart Disease UCI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303 patients, 14 clinical features, Cleveland Clinic.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338" y="792361"/>
            <a:ext cx="738068" cy="408861"/>
          </a:xfrm>
          <a:prstGeom prst="roundRect">
            <a:avLst>
              <a:gd name="adj" fmla="val 6670"/>
            </a:avLst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931664" y="860465"/>
            <a:ext cx="465415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MCP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5338" y="1292066"/>
            <a:ext cx="5164931" cy="645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onstantia" panose="02030602050306030303" pitchFamily="18" charset="0"/>
                <a:ea typeface="Montserrat Bold" pitchFamily="34" charset="-122"/>
                <a:cs typeface="Montserrat Bold" pitchFamily="34" charset="-120"/>
              </a:rPr>
              <a:t>ClinicalDataETL</a:t>
            </a:r>
            <a:endParaRPr lang="en-US" sz="4050" dirty="0">
              <a:latin typeface="Constantia" panose="0203060205030603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5338" y="2278499"/>
            <a:ext cx="13039725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GB" sz="1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lifecycle management: download, cleansing, transformation, and feature engineering.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5338" y="2875002"/>
            <a:ext cx="6406277" cy="2337911"/>
          </a:xfrm>
          <a:prstGeom prst="roundRect">
            <a:avLst>
              <a:gd name="adj" fmla="val 1458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5818" y="2905482"/>
            <a:ext cx="6345317" cy="681752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8" name="Text 6"/>
          <p:cNvSpPr/>
          <p:nvPr/>
        </p:nvSpPr>
        <p:spPr>
          <a:xfrm>
            <a:off x="3827978" y="3033355"/>
            <a:ext cx="340876" cy="426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</a:rPr>
              <a:t>1</a:t>
            </a:r>
            <a:endParaRPr lang="en-US" sz="2650" dirty="0">
              <a:latin typeface="Candara Light" panose="020E0502030303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52989" y="3814405"/>
            <a:ext cx="4104323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fetch_and_process_heart_data</a:t>
            </a:r>
            <a:endParaRPr lang="en-US" sz="2000" dirty="0">
              <a:latin typeface="Candara Light" panose="020E0502030303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52989" y="4273510"/>
            <a:ext cx="5890974" cy="68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GB" sz="1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Download and process the dataset with missing values ​​handling and type conversion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428786" y="2875002"/>
            <a:ext cx="6406277" cy="2337911"/>
          </a:xfrm>
          <a:prstGeom prst="roundRect">
            <a:avLst>
              <a:gd name="adj" fmla="val 1458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9266" y="2905482"/>
            <a:ext cx="6345317" cy="681752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3" name="Text 11"/>
          <p:cNvSpPr/>
          <p:nvPr/>
        </p:nvSpPr>
        <p:spPr>
          <a:xfrm>
            <a:off x="10461427" y="3033355"/>
            <a:ext cx="340876" cy="426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650" dirty="0">
              <a:latin typeface="Candara Light" panose="020E0502030303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86437" y="3814405"/>
            <a:ext cx="2582466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get_dataset_info</a:t>
            </a:r>
            <a:endParaRPr lang="en-US" sz="2000" dirty="0">
              <a:latin typeface="Candara Light" panose="020E0502030303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86437" y="4273510"/>
            <a:ext cx="5890974" cy="68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GB" sz="1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Returns complete metadata: columns, source URL, description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5338" y="5440085"/>
            <a:ext cx="6406277" cy="1997035"/>
          </a:xfrm>
          <a:prstGeom prst="roundRect">
            <a:avLst>
              <a:gd name="adj" fmla="val 1707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818" y="5470565"/>
            <a:ext cx="6345317" cy="681752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8" name="Text 16"/>
          <p:cNvSpPr/>
          <p:nvPr/>
        </p:nvSpPr>
        <p:spPr>
          <a:xfrm>
            <a:off x="3827978" y="5598438"/>
            <a:ext cx="340876" cy="426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650" dirty="0">
              <a:latin typeface="Candara Light" panose="020E0502030303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52989" y="6379488"/>
            <a:ext cx="3021211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analyze_heart_disease</a:t>
            </a:r>
            <a:endParaRPr lang="en-US" sz="2000" dirty="0">
              <a:latin typeface="Candara Light" panose="020E0502030303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52989" y="6838593"/>
            <a:ext cx="5890974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1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Descriptive statistics and correlations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786" y="5440085"/>
            <a:ext cx="6406277" cy="1997035"/>
          </a:xfrm>
          <a:prstGeom prst="roundRect">
            <a:avLst>
              <a:gd name="adj" fmla="val 1707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59266" y="5470565"/>
            <a:ext cx="6345317" cy="681752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23" name="Text 21"/>
          <p:cNvSpPr/>
          <p:nvPr/>
        </p:nvSpPr>
        <p:spPr>
          <a:xfrm>
            <a:off x="10461427" y="5598438"/>
            <a:ext cx="340876" cy="426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650" dirty="0">
              <a:latin typeface="Candara Light" panose="020E0502030303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686437" y="6379488"/>
            <a:ext cx="3136344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export_processed_data</a:t>
            </a:r>
            <a:endParaRPr lang="en-US" sz="2000" dirty="0">
              <a:latin typeface="Candara Light" panose="020E0502030303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686437" y="6838593"/>
            <a:ext cx="5890974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GB" sz="1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Export data in JSON or CSV format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899" y="561737"/>
            <a:ext cx="677823" cy="382429"/>
          </a:xfrm>
          <a:prstGeom prst="roundRect">
            <a:avLst>
              <a:gd name="adj" fmla="val 6401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3915" y="630555"/>
            <a:ext cx="417790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MCP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3899" y="1025723"/>
            <a:ext cx="4988838" cy="579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Constantia" panose="02030602050306030303" pitchFamily="18" charset="0"/>
                <a:ea typeface="Montserrat Bold" pitchFamily="34" charset="-122"/>
                <a:cs typeface="Montserrat Bold" pitchFamily="34" charset="-120"/>
              </a:rPr>
              <a:t>Feature Engineering</a:t>
            </a:r>
            <a:endParaRPr lang="en-US" sz="3650" dirty="0">
              <a:latin typeface="Constantia" panose="0203060205030603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3899" y="1911191"/>
            <a:ext cx="1320260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GB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ETL server automatically enriches the dataset with derived features: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3899" y="2554843"/>
            <a:ext cx="101918" cy="101917"/>
          </a:xfrm>
          <a:prstGeom prst="roundRect">
            <a:avLst>
              <a:gd name="adj" fmla="val 4486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19770" y="2446496"/>
            <a:ext cx="2318147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age_group</a:t>
            </a:r>
            <a:endParaRPr lang="en-US" sz="1800" dirty="0">
              <a:latin typeface="Candara Light" panose="020E0502030303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19770" y="2858572"/>
            <a:ext cx="12896731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Categorization: young / adult / elderly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899" y="3680698"/>
            <a:ext cx="101918" cy="101917"/>
          </a:xfrm>
          <a:prstGeom prst="roundRect">
            <a:avLst>
              <a:gd name="adj" fmla="val 4486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19770" y="3572351"/>
            <a:ext cx="2318147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bp_category</a:t>
            </a:r>
            <a:endParaRPr lang="en-US" sz="1800" dirty="0">
              <a:latin typeface="Candara Light" panose="020E0502030303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19770" y="3984427"/>
            <a:ext cx="12896731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GB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Blood pressure: normal / elevated / high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3899" y="4806553"/>
            <a:ext cx="101918" cy="101917"/>
          </a:xfrm>
          <a:prstGeom prst="roundRect">
            <a:avLst>
              <a:gd name="adj" fmla="val 4486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19770" y="4698206"/>
            <a:ext cx="2318147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chol_category</a:t>
            </a:r>
            <a:endParaRPr lang="en-US" sz="1800" dirty="0">
              <a:latin typeface="Candara Light" panose="020E0502030303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19770" y="5110282"/>
            <a:ext cx="12896731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Cholesterol: normal / borderline / high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3899" y="5932408"/>
            <a:ext cx="101918" cy="101917"/>
          </a:xfrm>
          <a:prstGeom prst="roundRect">
            <a:avLst>
              <a:gd name="adj" fmla="val 4486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19770" y="5824061"/>
            <a:ext cx="2318147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risk_score</a:t>
            </a:r>
            <a:endParaRPr lang="en-US" sz="1800" dirty="0">
              <a:latin typeface="Candara Light" panose="020E0502030303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19770" y="6236137"/>
            <a:ext cx="12896731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Cholesterol: normal / borderline / high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3899" y="7058263"/>
            <a:ext cx="101918" cy="101917"/>
          </a:xfrm>
          <a:prstGeom prst="roundRect">
            <a:avLst>
              <a:gd name="adj" fmla="val 4486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19770" y="6949916"/>
            <a:ext cx="2318147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has_disease</a:t>
            </a:r>
            <a:endParaRPr lang="en-US" sz="1800" dirty="0">
              <a:latin typeface="Candara Light" panose="020E0502030303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19770" y="7361992"/>
            <a:ext cx="12896731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GB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Binary transformation of disease presence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9985" y="652105"/>
            <a:ext cx="770096" cy="426839"/>
          </a:xfrm>
          <a:prstGeom prst="roundRect">
            <a:avLst>
              <a:gd name="adj" fmla="val 6668"/>
            </a:avLst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972264" y="723186"/>
            <a:ext cx="485537" cy="28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MCP 2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29985" y="1173718"/>
            <a:ext cx="5854898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nstantia" panose="02030602050306030303" pitchFamily="18" charset="0"/>
                <a:ea typeface="Montserrat Bold" pitchFamily="34" charset="-122"/>
                <a:cs typeface="Montserrat Bold" pitchFamily="34" charset="-120"/>
              </a:rPr>
              <a:t>ClinicalDataAnalyzer</a:t>
            </a:r>
            <a:endParaRPr lang="en-US" sz="4200" dirty="0">
              <a:latin typeface="Constantia" panose="0203060205030603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9985" y="2203013"/>
            <a:ext cx="12970431" cy="355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GB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Advanced statistical analysis, anomaly detection, and data quality assessment.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829985" y="2825472"/>
            <a:ext cx="6366629" cy="2437209"/>
          </a:xfrm>
          <a:prstGeom prst="roundRect">
            <a:avLst>
              <a:gd name="adj" fmla="val 1460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0465" y="2855952"/>
            <a:ext cx="6305669" cy="711398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8" name="Text 6"/>
          <p:cNvSpPr/>
          <p:nvPr/>
        </p:nvSpPr>
        <p:spPr>
          <a:xfrm>
            <a:off x="3835479" y="2989302"/>
            <a:ext cx="355640" cy="444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800" dirty="0">
              <a:latin typeface="Candara Light" panose="020E0502030303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518" y="3804404"/>
            <a:ext cx="2952512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analyze_clinical_data</a:t>
            </a:r>
            <a:endParaRPr lang="en-US" sz="2100" dirty="0">
              <a:latin typeface="Candara Light" panose="020E0502030303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518" y="4283631"/>
            <a:ext cx="5831562" cy="71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Descriptive statistics: mean, median, standard deviation, quartiles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7433667" y="2825472"/>
            <a:ext cx="6366748" cy="2437209"/>
          </a:xfrm>
          <a:prstGeom prst="roundRect">
            <a:avLst>
              <a:gd name="adj" fmla="val 1460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64147" y="2855952"/>
            <a:ext cx="6305788" cy="711398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3" name="Text 11"/>
          <p:cNvSpPr/>
          <p:nvPr/>
        </p:nvSpPr>
        <p:spPr>
          <a:xfrm>
            <a:off x="10439162" y="2989302"/>
            <a:ext cx="355640" cy="444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800" dirty="0">
              <a:latin typeface="Candara Light" panose="020E0502030303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01201" y="3804404"/>
            <a:ext cx="3621286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exploratory_data_analysis</a:t>
            </a:r>
            <a:endParaRPr lang="en-US" sz="2100" dirty="0">
              <a:latin typeface="Candara Light" panose="020E0502030303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01201" y="4283631"/>
            <a:ext cx="5831681" cy="71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GB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Complete EDA with correlations, patterns and feature-outcome relationships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829985" y="5499735"/>
            <a:ext cx="6366629" cy="2081451"/>
          </a:xfrm>
          <a:prstGeom prst="roundRect">
            <a:avLst>
              <a:gd name="adj" fmla="val 1709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0465" y="5530215"/>
            <a:ext cx="6305669" cy="711398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8" name="Text 16"/>
          <p:cNvSpPr/>
          <p:nvPr/>
        </p:nvSpPr>
        <p:spPr>
          <a:xfrm>
            <a:off x="3835479" y="5663565"/>
            <a:ext cx="355640" cy="444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800" dirty="0">
              <a:latin typeface="Candara Light" panose="020E0502030303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97518" y="6478667"/>
            <a:ext cx="2695099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detect_data_issues</a:t>
            </a:r>
            <a:endParaRPr lang="en-US" sz="2100" dirty="0">
              <a:latin typeface="Candara Light" panose="020E0502030303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97518" y="6957893"/>
            <a:ext cx="5831562" cy="355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GB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Detection of missing values, outliers and inconsistencies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7433667" y="5499735"/>
            <a:ext cx="6366748" cy="2081451"/>
          </a:xfrm>
          <a:prstGeom prst="roundRect">
            <a:avLst>
              <a:gd name="adj" fmla="val 1709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64147" y="5530215"/>
            <a:ext cx="6305788" cy="711398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23" name="Text 21"/>
          <p:cNvSpPr/>
          <p:nvPr/>
        </p:nvSpPr>
        <p:spPr>
          <a:xfrm>
            <a:off x="10439162" y="5663565"/>
            <a:ext cx="355640" cy="444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800" dirty="0">
              <a:latin typeface="Candara Light" panose="020E0502030303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701201" y="6478667"/>
            <a:ext cx="2695099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get_analyzer_info</a:t>
            </a:r>
            <a:endParaRPr lang="en-US" sz="2100" dirty="0">
              <a:latin typeface="Candara Light" panose="020E0502030303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01201" y="6957893"/>
            <a:ext cx="5831681" cy="355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Supported version and operations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9985" y="652105"/>
            <a:ext cx="770096" cy="426839"/>
          </a:xfrm>
          <a:prstGeom prst="roundRect">
            <a:avLst>
              <a:gd name="adj" fmla="val 6668"/>
            </a:avLst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972264" y="723186"/>
            <a:ext cx="485537" cy="28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MCP 3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29985" y="1173718"/>
            <a:ext cx="7116485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nstantia" panose="02030602050306030303" pitchFamily="18" charset="0"/>
                <a:ea typeface="Montserrat Bold" pitchFamily="34" charset="-122"/>
                <a:cs typeface="Montserrat Bold" pitchFamily="34" charset="-120"/>
              </a:rPr>
              <a:t>MedicalKnowledgeGraph</a:t>
            </a:r>
            <a:endParaRPr lang="en-US" sz="4200" dirty="0">
              <a:latin typeface="Constantia" panose="0203060205030603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9985" y="2203013"/>
            <a:ext cx="12970431" cy="355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GB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Building and managing a knowledge graph to identify complex clinical relationships.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829985" y="2825472"/>
            <a:ext cx="6366629" cy="2437209"/>
          </a:xfrm>
          <a:prstGeom prst="roundRect">
            <a:avLst>
              <a:gd name="adj" fmla="val 1460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0465" y="2855952"/>
            <a:ext cx="6305669" cy="711398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8" name="Text 6"/>
          <p:cNvSpPr/>
          <p:nvPr/>
        </p:nvSpPr>
        <p:spPr>
          <a:xfrm>
            <a:off x="3835479" y="2989302"/>
            <a:ext cx="355640" cy="444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800" dirty="0">
              <a:latin typeface="Candara Light" panose="020E0502030303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518" y="3804404"/>
            <a:ext cx="3449360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100" b="1" dirty="0" err="1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explore_relations</a:t>
            </a:r>
            <a:endParaRPr lang="en-US" sz="2100" dirty="0">
              <a:latin typeface="Candara Light" panose="020E0502030303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518" y="4283631"/>
            <a:ext cx="5831562" cy="355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GB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Explore feature connections with</a:t>
            </a:r>
          </a:p>
          <a:p>
            <a:pPr>
              <a:lnSpc>
                <a:spcPts val="2800"/>
              </a:lnSpc>
            </a:pPr>
            <a:r>
              <a:rPr lang="en-GB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correlations and interpretations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7433667" y="2825472"/>
            <a:ext cx="6366748" cy="2437209"/>
          </a:xfrm>
          <a:prstGeom prst="roundRect">
            <a:avLst>
              <a:gd name="adj" fmla="val 1460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64147" y="2855952"/>
            <a:ext cx="6305788" cy="711398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3" name="Text 11"/>
          <p:cNvSpPr/>
          <p:nvPr/>
        </p:nvSpPr>
        <p:spPr>
          <a:xfrm>
            <a:off x="10439162" y="2989302"/>
            <a:ext cx="355640" cy="444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800" dirty="0">
              <a:latin typeface="Candara Light" panose="020E0502030303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01201" y="3804404"/>
            <a:ext cx="2695099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100" b="1" dirty="0" err="1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clinical_insights</a:t>
            </a:r>
            <a:endParaRPr lang="en-US" sz="2100" dirty="0">
              <a:latin typeface="Candara Light" panose="020E0502030303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01201" y="4283631"/>
            <a:ext cx="5831681" cy="71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GB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Explore relationships and risk factors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3506948" y="5546704"/>
            <a:ext cx="6336268" cy="2081451"/>
          </a:xfrm>
          <a:prstGeom prst="roundRect">
            <a:avLst>
              <a:gd name="adj" fmla="val 1709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37428" y="5546704"/>
            <a:ext cx="6305788" cy="711398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23" name="Text 21"/>
          <p:cNvSpPr/>
          <p:nvPr/>
        </p:nvSpPr>
        <p:spPr>
          <a:xfrm>
            <a:off x="6512502" y="5713153"/>
            <a:ext cx="355640" cy="444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</a:rPr>
              <a:t>3</a:t>
            </a:r>
            <a:endParaRPr lang="en-US" sz="2800" dirty="0">
              <a:latin typeface="Candara Light" panose="020E0502030303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731630" y="6369485"/>
            <a:ext cx="2695099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kg_status</a:t>
            </a:r>
            <a:endParaRPr lang="en-US" sz="2100" dirty="0">
              <a:latin typeface="Candara Light" panose="020E0502030303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731630" y="6934080"/>
            <a:ext cx="5831681" cy="355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GB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status, graph size and available tools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798" y="1897023"/>
            <a:ext cx="816888" cy="459343"/>
          </a:xfrm>
          <a:prstGeom prst="roundRect">
            <a:avLst>
              <a:gd name="adj" fmla="val 6448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9413" y="1978581"/>
            <a:ext cx="50565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MCP 3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3798" y="2455069"/>
            <a:ext cx="9004816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onstantia" panose="02030602050306030303" pitchFamily="18" charset="0"/>
                <a:ea typeface="Montserrat Bold" pitchFamily="34" charset="-122"/>
                <a:cs typeface="Montserrat Bold" pitchFamily="34" charset="-120"/>
              </a:rPr>
              <a:t>Knowledge Graph Architecture</a:t>
            </a:r>
            <a:endParaRPr lang="en-US" sz="4400" dirty="0">
              <a:latin typeface="Constantia" panose="0203060205030603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3798" y="377332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ndara Light" panose="020E0502030303020204" pitchFamily="34" charset="0"/>
                <a:ea typeface="Montserrat Bold" pitchFamily="34" charset="-122"/>
              </a:rPr>
              <a:t>Nodes</a:t>
            </a:r>
            <a:endParaRPr lang="en-US" sz="2800" dirty="0">
              <a:latin typeface="Candara Light" panose="020E0502030303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3798" y="4370784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clinical feature with: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3798" y="4963001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Name and data type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3798" y="5419487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Descriptive statistics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3798" y="5875973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Clinical relevance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23929" y="377332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Arches</a:t>
            </a:r>
            <a:endParaRPr lang="en-US" sz="2800" dirty="0">
              <a:latin typeface="Candara Light" panose="020E0502030303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23929" y="4370784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Weighted relationships with: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623929" y="4963001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Correlation coefficient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623929" y="5419487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P-value significance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7949" y="579834"/>
            <a:ext cx="1094184" cy="379452"/>
          </a:xfrm>
          <a:prstGeom prst="roundRect">
            <a:avLst>
              <a:gd name="adj" fmla="val 6668"/>
            </a:avLst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864394" y="643057"/>
            <a:ext cx="841296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7949" y="1043583"/>
            <a:ext cx="6768465" cy="59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700"/>
              </a:lnSpc>
            </a:pPr>
            <a:r>
              <a:rPr lang="en-US" sz="3750" b="1" dirty="0">
                <a:solidFill>
                  <a:srgbClr val="FFFFFF"/>
                </a:solidFill>
                <a:latin typeface="Constantia" panose="02030602050306030303" pitchFamily="18" charset="0"/>
                <a:ea typeface="Montserrat Bold" pitchFamily="34" charset="-122"/>
                <a:cs typeface="Montserrat Bold" pitchFamily="34" charset="-120"/>
              </a:rPr>
              <a:t>Integration with Claude AI</a:t>
            </a:r>
            <a:endParaRPr lang="en-US" sz="3750" dirty="0">
              <a:latin typeface="Constantia" panose="0203060205030603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74083" y="1906331"/>
            <a:ext cx="843320" cy="1265039"/>
          </a:xfrm>
          <a:prstGeom prst="roundRect">
            <a:avLst>
              <a:gd name="adj" fmla="val 360046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it-IT" dirty="0"/>
          </a:p>
        </p:txBody>
      </p:sp>
      <p:sp>
        <p:nvSpPr>
          <p:cNvPr id="6" name="Text 4"/>
          <p:cNvSpPr/>
          <p:nvPr/>
        </p:nvSpPr>
        <p:spPr>
          <a:xfrm>
            <a:off x="937628" y="2411797"/>
            <a:ext cx="316230" cy="395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40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4000" dirty="0">
              <a:latin typeface="Candara Light" panose="020E0502030303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792010" y="2169557"/>
            <a:ext cx="2396014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24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Loading</a:t>
            </a:r>
            <a:endParaRPr lang="en-US" sz="2400" dirty="0">
              <a:latin typeface="Candara Light" panose="020E0502030303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792010" y="2595443"/>
            <a:ext cx="12100441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fetch_and_process_heart_data()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78635" y="3378182"/>
            <a:ext cx="843320" cy="1265039"/>
          </a:xfrm>
          <a:prstGeom prst="roundRect">
            <a:avLst>
              <a:gd name="adj" fmla="val 360046"/>
            </a:avLst>
          </a:prstGeom>
          <a:solidFill>
            <a:srgbClr val="303132"/>
          </a:solidFill>
          <a:ln/>
        </p:spPr>
      </p:sp>
      <p:sp>
        <p:nvSpPr>
          <p:cNvPr id="10" name="Text 8"/>
          <p:cNvSpPr/>
          <p:nvPr/>
        </p:nvSpPr>
        <p:spPr>
          <a:xfrm>
            <a:off x="1001435" y="3869412"/>
            <a:ext cx="316230" cy="395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40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4000" dirty="0">
              <a:latin typeface="Candara Light" panose="020E0502030303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792010" y="3645337"/>
            <a:ext cx="2396014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Analysis</a:t>
            </a:r>
            <a:endParaRPr lang="en-US" sz="2400" dirty="0">
              <a:latin typeface="Candara Light" panose="020E0502030303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92010" y="4071223"/>
            <a:ext cx="12100441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analyze_clinical_data() + detect_data_issues()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78635" y="4863136"/>
            <a:ext cx="843320" cy="1265039"/>
          </a:xfrm>
          <a:prstGeom prst="roundRect">
            <a:avLst>
              <a:gd name="adj" fmla="val 360046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it-IT" dirty="0"/>
          </a:p>
        </p:txBody>
      </p:sp>
      <p:sp>
        <p:nvSpPr>
          <p:cNvPr id="14" name="Text 12"/>
          <p:cNvSpPr/>
          <p:nvPr/>
        </p:nvSpPr>
        <p:spPr>
          <a:xfrm>
            <a:off x="1001435" y="5345192"/>
            <a:ext cx="316230" cy="395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36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3600" dirty="0">
              <a:latin typeface="Candara Light" panose="020E0502030303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792010" y="5121116"/>
            <a:ext cx="2396014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EDA</a:t>
            </a:r>
            <a:endParaRPr lang="en-US" sz="2400" dirty="0">
              <a:latin typeface="Candara Light" panose="020E0502030303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792010" y="5547003"/>
            <a:ext cx="12100441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exploratory_data_analysis()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78635" y="6364784"/>
            <a:ext cx="843320" cy="1265039"/>
          </a:xfrm>
          <a:prstGeom prst="roundRect">
            <a:avLst>
              <a:gd name="adj" fmla="val 360046"/>
            </a:avLst>
          </a:prstGeom>
          <a:solidFill>
            <a:srgbClr val="303132"/>
          </a:solidFill>
          <a:ln/>
        </p:spPr>
      </p:sp>
      <p:sp>
        <p:nvSpPr>
          <p:cNvPr id="18" name="Text 16"/>
          <p:cNvSpPr/>
          <p:nvPr/>
        </p:nvSpPr>
        <p:spPr>
          <a:xfrm>
            <a:off x="937687" y="6825139"/>
            <a:ext cx="316230" cy="395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40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4000" dirty="0">
              <a:latin typeface="Candara Light" panose="020E0502030303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792010" y="6596896"/>
            <a:ext cx="2552462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Knowledge Graph</a:t>
            </a:r>
            <a:endParaRPr lang="en-US" sz="2400" dirty="0">
              <a:latin typeface="Candara Light" panose="020E0502030303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792010" y="7022783"/>
            <a:ext cx="12100441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clinical_insights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()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798" y="1497925"/>
            <a:ext cx="1458158" cy="444103"/>
          </a:xfrm>
          <a:prstGeom prst="roundRect">
            <a:avLst>
              <a:gd name="adj" fmla="val 6670"/>
            </a:avLst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1011793" y="1571863"/>
            <a:ext cx="1162169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CONCLUSIONS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3798" y="2040731"/>
            <a:ext cx="6233398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4400" b="1" dirty="0">
                <a:solidFill>
                  <a:srgbClr val="FFFFFF"/>
                </a:solidFill>
                <a:latin typeface="Constantia" panose="02030602050306030303" pitchFamily="18" charset="0"/>
                <a:ea typeface="Montserrat Bold" pitchFamily="34" charset="-122"/>
                <a:cs typeface="Montserrat Bold" pitchFamily="34" charset="-120"/>
              </a:rPr>
              <a:t>Advantages of the System</a:t>
            </a:r>
            <a:endParaRPr lang="en-US" sz="4400" dirty="0">
              <a:latin typeface="Constantia" panose="0203060205030603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3798" y="3112175"/>
            <a:ext cx="6327934" cy="1362432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/>
        </p:spPr>
      </p:sp>
      <p:sp>
        <p:nvSpPr>
          <p:cNvPr id="6" name="Text 4"/>
          <p:cNvSpPr/>
          <p:nvPr/>
        </p:nvSpPr>
        <p:spPr>
          <a:xfrm>
            <a:off x="1110615" y="335899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Automation</a:t>
            </a:r>
            <a:endParaRPr lang="en-US" sz="2200" dirty="0">
              <a:latin typeface="Candara Light" panose="020E0502030303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10615" y="3857625"/>
            <a:ext cx="583430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GB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Automatic management of the complete data cycle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438549" y="3112175"/>
            <a:ext cx="6328053" cy="1362432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/>
        </p:spPr>
      </p:sp>
      <p:sp>
        <p:nvSpPr>
          <p:cNvPr id="9" name="Text 7"/>
          <p:cNvSpPr/>
          <p:nvPr/>
        </p:nvSpPr>
        <p:spPr>
          <a:xfrm>
            <a:off x="7685365" y="335899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Quality control</a:t>
            </a:r>
            <a:endParaRPr lang="en-US" sz="2200" dirty="0">
              <a:latin typeface="Candara Light" panose="020E0502030303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85365" y="3857625"/>
            <a:ext cx="58344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GB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Automatic detection of problems and anomalies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63798" y="4721423"/>
            <a:ext cx="6327934" cy="1362432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/>
        </p:spPr>
      </p:sp>
      <p:sp>
        <p:nvSpPr>
          <p:cNvPr id="12" name="Text 10"/>
          <p:cNvSpPr/>
          <p:nvPr/>
        </p:nvSpPr>
        <p:spPr>
          <a:xfrm>
            <a:off x="1110615" y="4968240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Insights</a:t>
            </a:r>
            <a:endParaRPr lang="en-US" sz="2200" dirty="0">
              <a:latin typeface="Candara Light" panose="020E0502030303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10615" y="5466874"/>
            <a:ext cx="583430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GB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Knowledge graph for non-obvious relationships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438549" y="4721423"/>
            <a:ext cx="6328053" cy="1362432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/>
        </p:spPr>
      </p:sp>
      <p:sp>
        <p:nvSpPr>
          <p:cNvPr id="15" name="Text 13"/>
          <p:cNvSpPr/>
          <p:nvPr/>
        </p:nvSpPr>
        <p:spPr>
          <a:xfrm>
            <a:off x="7685365" y="4968240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rgbClr val="E2E6E9"/>
                </a:solidFill>
                <a:latin typeface="Candara Light" panose="020E0502030303020204" pitchFamily="34" charset="0"/>
                <a:ea typeface="Montserrat Bold" pitchFamily="34" charset="-122"/>
                <a:cs typeface="Montserrat Bold" pitchFamily="34" charset="-120"/>
              </a:rPr>
              <a:t>Integration</a:t>
            </a:r>
            <a:endParaRPr lang="en-US" sz="2200" dirty="0">
              <a:latin typeface="Candara Light" panose="020E0502030303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85365" y="5466874"/>
            <a:ext cx="58344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it-IT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Via </a:t>
            </a:r>
            <a:r>
              <a:rPr lang="it-IT" sz="19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FastMcp</a:t>
            </a:r>
            <a:r>
              <a:rPr lang="it-IT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Claude AI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63798" y="6361509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GB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Future developments: </a:t>
            </a:r>
            <a:r>
              <a:rPr lang="en-GB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Extension to new clinical datasets, integrated ML algorithms, interactive visualizations.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0C00D696-8934-FF08-9299-E39C501D7DF6}"/>
              </a:ext>
            </a:extLst>
          </p:cNvPr>
          <p:cNvSpPr txBox="1"/>
          <p:nvPr/>
        </p:nvSpPr>
        <p:spPr>
          <a:xfrm>
            <a:off x="1" y="375315"/>
            <a:ext cx="14630399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 prompt:</a:t>
            </a:r>
          </a:p>
          <a:p>
            <a:pPr algn="ctr"/>
            <a:r>
              <a:rPr lang="en-GB" sz="6000" dirty="0" err="1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Analyze</a:t>
            </a:r>
            <a:r>
              <a:rPr lang="en-GB" sz="6000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the Heart Disease dataset from UCI and identify which combinations of risk factors are most impactful for detecting heart disease. Provide actionable insights that a cardiologist can use to prioritize preventative interventions.</a:t>
            </a:r>
            <a:endParaRPr lang="it-IT" sz="4400" dirty="0">
              <a:solidFill>
                <a:schemeClr val="bg1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082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1267</TotalTime>
  <Words>502</Words>
  <Application>Microsoft Office PowerPoint</Application>
  <PresentationFormat>Personalizzato</PresentationFormat>
  <Paragraphs>119</Paragraphs>
  <Slides>10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7" baseType="lpstr">
      <vt:lpstr>Constantia</vt:lpstr>
      <vt:lpstr>Arial</vt:lpstr>
      <vt:lpstr>Source Sans 3</vt:lpstr>
      <vt:lpstr>Candara Light</vt:lpstr>
      <vt:lpstr>Cambria</vt:lpstr>
      <vt:lpstr>Times New Roman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Michele Cirillo</dc:creator>
  <cp:lastModifiedBy>MICHELE CIRILLO</cp:lastModifiedBy>
  <cp:revision>14</cp:revision>
  <dcterms:created xsi:type="dcterms:W3CDTF">2026-01-05T17:50:07Z</dcterms:created>
  <dcterms:modified xsi:type="dcterms:W3CDTF">2026-02-05T13:34:20Z</dcterms:modified>
</cp:coreProperties>
</file>